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Formas de Pagamento (transacoes)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Transacoes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PIX</c:v>
                  </c:pt>
                  <c:pt idx="1">
                    <c:v>Boleto</c:v>
                  </c:pt>
                  <c:pt idx="2">
                    <c:v>Cartao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10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A15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CALCULADO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32104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Análise Financeira para Microempresas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3042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AC8"/>
                </a:solidFill>
              </a:rPr>
              <a:t>Projeto Integrador + Extensão Universitária  —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Arte &amp; Personaliza   |   Produtos Personalizados   |   São Paulo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AAC8"/>
                </a:solidFill>
              </a:rPr>
              <a:t>32 transações processadas   |   16 dias de operação   |   8 módulos de cálculo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Insight Calculado?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560320" cy="3017520"/>
          </a:xfrm>
          <a:prstGeom prst="rect">
            <a:avLst/>
          </a:prstGeom>
          <a:solidFill>
            <a:srgbClr val="D6E8F8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56032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28600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Dados financeiros da empresa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inseridos em JSON: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transações, datas, valores,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categorias e formas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pagamento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560320" cy="3017520"/>
          </a:xfrm>
          <a:prstGeom prst="rect">
            <a:avLst/>
          </a:prstGeom>
          <a:solidFill>
            <a:srgbClr val="FDE8C8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256032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PROCESSAMENTO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28600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Motor Python executa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8 módulos de cálculo: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estatística, correlação,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probabilidade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preparação de dados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2560320" cy="301752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51560"/>
            <a:ext cx="256032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515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SAÍDA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228600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Novo JSON com resultados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aula a aula + KPIs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prontos para relatório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 decisão do negócio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44952" y="2560320"/>
            <a:ext cx="24688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4688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16752" y="2560320"/>
            <a:ext cx="246888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4688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206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 sistema transforma dados brutos em inteligência financeira automatizada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Analisada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822960"/>
            <a:ext cx="58521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822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Arte &amp; Personaliza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1051560"/>
          </a:xfrm>
          <a:prstGeom prst="rect">
            <a:avLst/>
          </a:prstGeom>
          <a:solidFill>
            <a:srgbClr val="D6E8F8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73152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883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Localização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21214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São Paulo, SP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105156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73152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83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Segmento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19472" y="21214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Produtos Personalizados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23360" cy="1051560"/>
          </a:xfrm>
          <a:prstGeom prst="rect">
            <a:avLst/>
          </a:prstGeom>
          <a:solidFill>
            <a:srgbClr val="FDE8C8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08960"/>
            <a:ext cx="73152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Produtos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4015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Canecas · Chaveiros · Convites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Lembrancinhas · Decorações · Presentes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023360" cy="1051560"/>
          </a:xfrm>
          <a:prstGeom prst="rect">
            <a:avLst/>
          </a:prstGeom>
          <a:solidFill>
            <a:srgbClr val="EAD5F4"/>
          </a:solidFill>
          <a:ln w="25400">
            <a:solidFill>
              <a:srgbClr val="7D3C9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08960"/>
            <a:ext cx="73152" cy="1051560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63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3C98"/>
                </a:solidFill>
              </a:rPr>
              <a:t>Período analisado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34015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01/05/2026 a 16/05/2026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32 transações processadas   |   16 dias de operação   |   Origem: formulário web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dos Dados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141732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ENTRADA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(JSON)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10972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65960" y="868680"/>
            <a:ext cx="1417320" cy="640080"/>
          </a:xfrm>
          <a:prstGeom prst="rect">
            <a:avLst/>
          </a:prstGeom>
          <a:solidFill>
            <a:srgbClr val="1A6B8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86868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Preparação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dos Dados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0972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11880" y="86868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86868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Classificação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0972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86868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86868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Estatística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1887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09728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86868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86868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Frequência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12380" y="1508760"/>
            <a:ext cx="0" cy="41148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12380" y="1920240"/>
            <a:ext cx="-69723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8288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Correlações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24028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1488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65960" y="192024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6596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Probabilidade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224028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21488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192024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1188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224028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21488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57800" y="1920240"/>
            <a:ext cx="1417320" cy="640080"/>
          </a:xfrm>
          <a:prstGeom prst="rect">
            <a:avLst/>
          </a:prstGeom>
          <a:solidFill>
            <a:srgbClr val="1E7F6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25780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Limpeza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224028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21488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</a:rPr>
              <a:t>▶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03720" y="1920240"/>
            <a:ext cx="1417320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03720" y="1920240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Aula 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KPIs Finais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12380" y="2560320"/>
            <a:ext cx="0" cy="22860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12380" y="2880360"/>
            <a:ext cx="-1869948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2880360"/>
            <a:ext cx="9601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0" y="2880360"/>
            <a:ext cx="960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JSON de Saída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37960" y="2880360"/>
            <a:ext cx="960120" cy="502920"/>
          </a:xfrm>
          <a:prstGeom prst="rect">
            <a:avLst/>
          </a:prstGeom>
          <a:solidFill>
            <a:srgbClr val="28B46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537960" y="2880360"/>
            <a:ext cx="960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2: CSV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35240" y="2880360"/>
            <a:ext cx="960120" cy="502920"/>
          </a:xfrm>
          <a:prstGeom prst="rect">
            <a:avLst/>
          </a:prstGeom>
          <a:solidFill>
            <a:srgbClr val="1A8A5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635240" y="2880360"/>
            <a:ext cx="9601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Fase 2: Excel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8E8"/>
                </a:solidFill>
              </a:rPr>
              <a:t>Fase 2: PDF Executivo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AAC8"/>
                </a:solidFill>
              </a:rPr>
              <a:t>Cada aula executa um módulo de cálculo e alimenta o próximo — resultado final: KPIs + alertas prontos para decisão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Entrada: Estrutura do JSON de Dados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E293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74904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"negocio":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"nome": "Arte &amp; Personaliza",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"segmento": "Personalizados",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"cidade": "Sao Paulo"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"dados":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"transacoes": [{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"T001",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"data": "2026-05-01",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"tipo": "receita",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"categoria": "Canecas",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"valor": 320.00,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"forma_pagamento": "pix",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"pago_no_prazo": true,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"desconto": 0.00,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"marketing": 30.0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822960"/>
          <a:ext cx="416052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2148840"/>
              </a:tblGrid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representa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"receita" ou "despesa"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em R$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produto ou custo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forma_pagamento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pix, cartão, boleto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pago_no_prazo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foi pago em 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com marketing (R$)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aplicado (R$)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do cliente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— Entendendo os Dados do Negócio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</a:rPr>
              <a:t>Problema: O empreendedor possui dados, mas não sabe o que está registrando nem como organizar para análise.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50292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Tipo Identificado pelo Sistema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Quantitativa Contínua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Quantitativa Contínua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forma_pagamento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Qualitativa Nominal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Qualitativa Nominal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desconto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Quantitativa Discreta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pago_no_prazo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Quantitativa Discreta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categoria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Qualitativa Textual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Qualitativa Textual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325880"/>
            <a:ext cx="3291840" cy="868680"/>
          </a:xfrm>
          <a:prstGeom prst="rect">
            <a:avLst/>
          </a:prstGeom>
          <a:solidFill>
            <a:srgbClr val="D6E8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1371600"/>
            <a:ext cx="32918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32120" y="1829714"/>
            <a:ext cx="32918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Transações analisadas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32120" y="2331720"/>
            <a:ext cx="3291840" cy="868680"/>
          </a:xfrm>
          <a:prstGeom prst="rect">
            <a:avLst/>
          </a:prstGeom>
          <a:solidFill>
            <a:srgbClr val="D5F0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2377440"/>
            <a:ext cx="32918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532120" y="2835554"/>
            <a:ext cx="32918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Registros diários derivados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532120" y="3337560"/>
            <a:ext cx="3291840" cy="868680"/>
          </a:xfrm>
          <a:prstGeom prst="rect">
            <a:avLst/>
          </a:prstGeom>
          <a:solidFill>
            <a:srgbClr val="EAD5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32120" y="3383280"/>
            <a:ext cx="32918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532120" y="3841394"/>
            <a:ext cx="329184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Campos faltantes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" y="4416552"/>
            <a:ext cx="8503920" cy="457200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416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Insight: O sistema classifica automaticamente cada campo como numero, categoria ou texto — base essencial para os calculos seguintes.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— Comportamento Financeiro Central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Media · Mediana · Moda · Amplitude · Desvio Padrao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2004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</a:rPr>
              <a:t>Problema: O empreendedor nao sabe qual e o comportamento financeiro tipico do negocio.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6766560" cy="2880360"/>
        </p:xfrm>
        <a:graphic>
          <a:graphicData uri="http://schemas.openxmlformats.org/drawingml/2006/table">
            <a:tbl>
              <a:tblPr/>
              <a:tblGrid>
                <a:gridCol w="1645920"/>
                <a:gridCol w="1709928"/>
                <a:gridCol w="1709928"/>
                <a:gridCol w="170078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Receita Diaria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Despesa Diaria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Lucro Diario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R$ 458,75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R$ 194,38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R$ 264,38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Mediana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R$ 450,00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R$ 175,00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R$ 215,00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R$ 320,00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R$ 150,00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R$ 410,00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Desvio Padrao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R$ 223,01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R$ 172,11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R$ 229,51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Minimo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R$ 120,00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R$ 45,00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-R$ 130,00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Maximo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R$ 890,00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R$ 800,00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R$ 670,00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371600"/>
            <a:ext cx="1645920" cy="2880360"/>
          </a:xfrm>
          <a:prstGeom prst="rect">
            <a:avLst/>
          </a:prstGeom>
          <a:solidFill>
            <a:srgbClr val="D6E8F8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23760" y="1463040"/>
            <a:ext cx="155448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2E75B6"/>
                </a:solidFill>
              </a:rPr>
              <a:t>Ticket Medio
</a:t>
            </a:r>
            <a:endParaRPr lang="en-US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R$ 458,75
</a:t>
            </a:r>
            <a:endParaRPr lang="en-US" sz="16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Desvio Padrao de R$ 223 indica receitas muito variaveis: ha dias de R$ 120 e dias de R$ 890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" y="4370832"/>
            <a:ext cx="8503920" cy="457200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3708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5B6"/>
                </a:solidFill>
              </a:rPr>
              <a:t>A media mostra o comportamento central. Mediana e moda ajudam a validar se ha distorcoes. Variancia e desvio padrao medem estabilidade financeira.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Pratico: Como a Media e Calculada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8503920" cy="365760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</a:rPr>
              <a:t>Passo 1 — Some todas as receitas dos 16 dias: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502920"/>
          </a:xfrm>
          <a:prstGeom prst="rect">
            <a:avLst/>
          </a:prstGeom>
          <a:solidFill>
            <a:srgbClr val="1E2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R$ 320 + 580 + 160 + 420 + 750 + 280 + 890 + 480 + 200 + 650 + 120 + 380 + 560 + 720 + 340 + 490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= R$ 7.340,00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8503920" cy="365760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0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Passo 2 — Divida pelo numero de dias (16):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8503920" cy="54864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Media = </a:t>
            </a:r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R$ 7.340,00</a:t>
            </a:r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  /  16 dias  =  </a:t>
            </a:r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R$ 458,75</a:t>
            </a:r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  por dia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4023360" cy="1234440"/>
          </a:xfrm>
          <a:prstGeom prst="rect">
            <a:avLst/>
          </a:prstGeom>
          <a:solidFill>
            <a:srgbClr val="FEF9C3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374904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Formulas utilizadas: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 =  S(valores) / n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Desvio Padrao  =  raiz[S(xi - x)^2 / (n-1)]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520440"/>
            <a:ext cx="4251960" cy="123444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84448"/>
            <a:ext cx="39776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 desvio padrao de R$ 223,01 significa que a receita diaria costuma variar em ±R$ 223 em relacao a media — o negocio tem dias muito bons e dias fracos.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— Distribuicao e Faixas de Desempenho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</a:rPr>
              <a:t>Problema: O empreendedor ve numeros soltos, mas nao enxerga faixas de valor, frequencia ou concentracao.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1887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639312"/>
            <a:ext cx="4023360" cy="365760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639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5B6"/>
                </a:solidFill>
              </a:rPr>
              <a:t>PIX: 53,12%   |   Boleto: 31,25%   |   Cartao: 15,62%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0" y="1188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Quartis da Receita Diaria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251960" cy="96012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Q1 (25% menores)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R$ 310,00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Q2 — Mediana (50%)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R$ 450,00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Q3 (75% menores)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R$ 597,50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0" y="2560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Percentis do Ticket de Venda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880360"/>
          <a:ext cx="4251960" cy="1143000"/>
        </p:xfrm>
        <a:graphic>
          <a:graphicData uri="http://schemas.openxmlformats.org/drawingml/2006/table">
            <a:tbl>
              <a:tblPr/>
              <a:tblGrid>
                <a:gridCol w="731520"/>
                <a:gridCol w="35204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R$ 180,00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R$ 310,00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R$ 450,00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R$ 597,50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R$ 735,00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Insight: Metade das vendas esta acima de R$ 450. Os 10% melhores tickets passam de R$ 735. PIX e o metodo de pagamento dominante (53%).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 — O que Influencia a Receita?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Correlacao Marketing x Receita  =  0,9879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126480" y="896112"/>
            <a:ext cx="246888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8961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FORTISSIMA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POSITIVA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38528"/>
          <a:ext cx="594360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 Analisado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Correlacao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Interpretacao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Marketing x Receita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</a:rPr>
                        <a:t>0,9879 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8A50"/>
                          </a:solidFill>
                        </a:rPr>
                        <a:t>Fortissima positiva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Marketing x Lucro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0,7323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Forte positiva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Despesa x Lucro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-0,4122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Moderada negativa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Desconto x Receita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-0,3177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Fraca negativa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938528"/>
            <a:ext cx="2423160" cy="2011680"/>
          </a:xfrm>
          <a:prstGeom prst="rect">
            <a:avLst/>
          </a:prstGeom>
          <a:solidFill>
            <a:srgbClr val="FEF9C3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011680"/>
            <a:ext cx="22402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Pearson (r)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S[(xi - x)(yi - y)]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---------------------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(n-1) * sx * sy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-1 &lt;= r &lt;= +1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 = 1: perfeita positiva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 = 0: sem relacao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 = -1: perfeita negativa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4096512"/>
            <a:ext cx="8503920" cy="36576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0965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Dias com mais investimento em marketing tem receitas muito maiores — correlacao quase perfeita de 0,9879!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507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Aviso: Correlacao nao prova causalidade. Os resultados indicam associacao estatistica e devem ser validados no contexto do negocio.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— Trabalhando com Incerteza e Risco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</a:rPr>
              <a:t>Problema: O empreendedor precisa tomar decisoes mesmo sem garantias — medindo chance e risco financeiro.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256032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AE60"/>
                </a:solidFill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Dia com pelo menos uma venda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16 de 16 dias com venda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registrada no periodo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2560320"/>
          </a:xfrm>
          <a:prstGeom prst="rect">
            <a:avLst/>
          </a:prstGeom>
          <a:solidFill>
            <a:srgbClr val="FDE8C8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7432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</a:rPr>
              <a:t>9,38%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Probabilidade de atraso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7249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3 de 32 pagamentos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foram realizados em atraso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743200" cy="2560320"/>
          </a:xfrm>
          <a:prstGeom prst="rect">
            <a:avLst/>
          </a:prstGeom>
          <a:solidFill>
            <a:srgbClr val="FAD5D1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</a:rPr>
              <a:t>12,5%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Dia com lucro negativo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27249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2 de 16 dias o negocio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operou no vermelho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5029200" cy="457200"/>
          </a:xfrm>
          <a:prstGeom prst="rect">
            <a:avLst/>
          </a:prstGeom>
          <a:solidFill>
            <a:srgbClr val="1E2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13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 P(evento)  =  No. de ocorrencias  /  Total de eventos observados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0680" y="3913632"/>
            <a:ext cx="3383280" cy="457200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3913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Baixo risco de atraso (9,38%) e operacao positiva em 87,5% dos dias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622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</a:rPr>
              <a:t>Espaco amostral: 16 dias  |  Transacoes com atraso: 3  |  Dias com lucro negativo: 2  |  Dias com venda: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— Qual Modelo Descreve Melhor o Negocio?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5B6"/>
                </a:solidFill>
              </a:rPr>
              <a:t>O sistema testa diferentes modelos matematicos e escolhe o que melhor representa o comportamento dos dados. Quanto maior o score de log-verossimilhanca, mais adequado o modelo.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Modelos Discretos  (contagens de vendas por dia)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27632"/>
          <a:ext cx="4160520" cy="128016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691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Poisson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-16,0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Melhor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Binomial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Nao aplicavel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Bernoulli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Nao aplicavel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3258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Modelos Continuos  (valores dos tickets de venda)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27632"/>
          <a:ext cx="4160520" cy="128016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691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Uniforme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-106,34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AE60"/>
                          </a:solidFill>
                        </a:rPr>
                        <a:t>Melhor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Gaussiana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-108,72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2o lugar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Exponencial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-114,06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3o lugar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3063240"/>
            <a:ext cx="4160520" cy="82296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3108960"/>
            <a:ext cx="3886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Melhor Modelo Discreto: </a:t>
            </a:r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POISSON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Ideal para modelar contagens de vendas por dia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3063240"/>
            <a:ext cx="4160520" cy="82296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00600" y="3108960"/>
            <a:ext cx="3886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Melhor Modelo Continuo: </a:t>
            </a:r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UNIFORME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Tickets relativamente equilibrados entre minimo e maximo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4041648"/>
            <a:ext cx="8503920" cy="713232"/>
          </a:xfrm>
          <a:prstGeom prst="rect">
            <a:avLst/>
          </a:prstGeom>
          <a:solidFill>
            <a:srgbClr val="FEF9C3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087368"/>
            <a:ext cx="832104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O que isso significa? O modelo Uniforme mostra que os tickets de venda sao bem distribuidos entre os valores minimo (R$ 120) e maximo (R$ 890) — sem concentracao em uma faixa especifica. O modelo Poisson e o mais adequado para prever quantas vendas acontecem por dia.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 — Preparando Dados para Insights Confiaveis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7E22"/>
                </a:solidFill>
              </a:rPr>
              <a:t>Problema: Dados reais chegam com ruidos, lacunas e escalas diferentes, o que compromete a analise.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2743200" cy="3017520"/>
          </a:xfrm>
          <a:prstGeom prst="rect">
            <a:avLst/>
          </a:prstGeom>
          <a:solidFill>
            <a:srgbClr val="D5F0E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16152"/>
            <a:ext cx="27432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1. Outliers (anomalias)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4688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Nenhum outlier detectado!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Ticket: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Limite inf.: -R$ 121,25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Limite sup.: R$ 1.028,75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Lucro: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Limite inf.: -R$ 299,38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Limite sup.: R$ 835,63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Todos os valores estao dentro do intervalo esperado — dados confiaveis!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216152"/>
            <a:ext cx="2743200" cy="3017520"/>
          </a:xfrm>
          <a:prstGeom prst="rect">
            <a:avLst/>
          </a:prstGeom>
          <a:solidFill>
            <a:srgbClr val="D6E8F8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216152"/>
            <a:ext cx="274320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216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2. Normalizacao (escala 0-1)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5146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2E"/>
                </a:solidFill>
              </a:rPr>
              <a:t>Coloca todos os dados na mesma escala para comparacao justa.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Receita normalizada (primeiros 5 dias):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0,26  →  0,60  →  0,05  →  0,39  →  0,82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Receita padronizada (z-score):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-0,62  →  0,54  →  -1,34  →  -0,17  →  1,31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(x - min) / (max - min)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216152"/>
            <a:ext cx="2743200" cy="3017520"/>
          </a:xfrm>
          <a:prstGeom prst="rect">
            <a:avLst/>
          </a:prstGeom>
          <a:solidFill>
            <a:srgbClr val="EAD5F4"/>
          </a:solidFill>
          <a:ln w="19050">
            <a:solidFill>
              <a:srgbClr val="7D3C9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216152"/>
            <a:ext cx="2743200" cy="365760"/>
          </a:xfrm>
          <a:prstGeom prst="rect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216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3. Selecao de Variaveis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36208" y="1645920"/>
            <a:ext cx="25146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Fatores que mais impactam o LUCRO: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SELECIONADO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Marketing  (correlacao: 0,73)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SELECIONADO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Despesa  (correlacao: -0,41)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NAO SELECIONADO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Desconto medio  (corr.: -0,20)
</a:t>
            </a:r>
            <a:endParaRPr lang="en-US" sz="95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Limiar: |correlacao| &gt;= 0,30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352544"/>
            <a:ext cx="8503920" cy="438912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5254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Conclusao: Dados limpos, sem outliers e com as variaveis certas selecionadas. O sistema esta pronto para gerar os KPIs finais.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— Resultados Finais do Periodo (KPIs)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2743200" cy="1234440"/>
          </a:xfrm>
          <a:prstGeom prst="rect">
            <a:avLst/>
          </a:prstGeom>
          <a:solidFill>
            <a:srgbClr val="0D332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784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R$ 7.340,00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Receita Total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743200" cy="1234440"/>
          </a:xfrm>
          <a:prstGeom prst="rect">
            <a:avLst/>
          </a:prstGeom>
          <a:solidFill>
            <a:srgbClr val="3A0D0D"/>
          </a:solidFill>
          <a:ln w="19050">
            <a:solidFill>
              <a:srgbClr val="FF7E7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784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E7E"/>
                </a:solidFill>
              </a:rPr>
              <a:t>R$ 3.110,00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Despesa Total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868680"/>
            <a:ext cx="2743200" cy="1234440"/>
          </a:xfrm>
          <a:prstGeom prst="rect">
            <a:avLst/>
          </a:prstGeom>
          <a:solidFill>
            <a:srgbClr val="0D2035"/>
          </a:solidFill>
          <a:ln w="19050">
            <a:solidFill>
              <a:srgbClr val="5DAD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9784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ADE2"/>
                </a:solidFill>
              </a:rPr>
              <a:t>R$ 4.230,00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Lucro Total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2743200" cy="1234440"/>
          </a:xfrm>
          <a:prstGeom prst="rect">
            <a:avLst/>
          </a:prstGeom>
          <a:solidFill>
            <a:srgbClr val="332700"/>
          </a:solidFill>
          <a:ln w="19050">
            <a:solidFill>
              <a:srgbClr val="FAD0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3957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D02E"/>
                </a:solidFill>
              </a:rPr>
              <a:t>57,63%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Margem de Lucro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286000"/>
            <a:ext cx="2743200" cy="1234440"/>
          </a:xfrm>
          <a:prstGeom prst="rect">
            <a:avLst/>
          </a:prstGeom>
          <a:solidFill>
            <a:srgbClr val="250D40"/>
          </a:solidFill>
          <a:ln w="19050">
            <a:solidFill>
              <a:srgbClr val="CF9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3957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9FFF"/>
                </a:solidFill>
              </a:rPr>
              <a:t>R$ 458,75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Ticket Medio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286000"/>
            <a:ext cx="2743200" cy="1234440"/>
          </a:xfrm>
          <a:prstGeom prst="rect">
            <a:avLst/>
          </a:prstGeom>
          <a:solidFill>
            <a:srgbClr val="2A1500"/>
          </a:solidFill>
          <a:ln w="19050">
            <a:solidFill>
              <a:srgbClr val="FFA07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23957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07A"/>
                </a:solidFill>
              </a:rPr>
              <a:t>Poisson + Uniforme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063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Modelos Probabilisticos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Composicao da Receita: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236976"/>
            <a:ext cx="8503920" cy="411480"/>
          </a:xfrm>
          <a:prstGeom prst="rect">
            <a:avLst/>
          </a:prstGeom>
          <a:solidFill>
            <a:srgbClr val="152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236976"/>
            <a:ext cx="4900760" cy="411480"/>
          </a:xfrm>
          <a:prstGeom prst="rect">
            <a:avLst/>
          </a:prstGeom>
          <a:solidFill>
            <a:srgbClr val="1A8A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20800" y="3236976"/>
            <a:ext cx="36031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Lucro 57,6%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2240" y="3255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Despesa 42,4%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8503920" cy="502920"/>
          </a:xfrm>
          <a:prstGeom prst="rect">
            <a:avLst/>
          </a:prstGeom>
          <a:solidFill>
            <a:srgbClr val="0D332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307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Nenhum alerta critico detectado no periodo analisado — negocio saudavel financeiramente!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432511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AC8"/>
                </a:solidFill>
              </a:rPr>
              <a:t>Probabilidade de atraso: 9,38%   |   Probabilidade de lucro negativo: 12,5%   |   Dias com venda: 100%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Saida: O JSON de Resultados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 sistema devolve um arquivo JSON estruturado com todos os calculos organizados aula por aula.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120640" cy="3657600"/>
          </a:xfrm>
          <a:prstGeom prst="rect">
            <a:avLst/>
          </a:prstGeom>
          <a:solidFill>
            <a:srgbClr val="1E293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4892040" cy="342900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"sistema": "Insight Calculado",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"versao": "1.0",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"negocio": { "nome": "Arte &amp; Personaliza"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"aula_8":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"tema": "KPIs para decisao",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"calculos":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"kpis_finais":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"receita_total": 7340.00,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"despesa_total": 3110.00,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"lucro_total": 4230.00,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"margem_lucro": 0.5763,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"ticket_medio": 458.75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"alertas": [],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"receita_diaria": [320, 580, 160...]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"modulo_final": { ...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577840" y="1170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Estrutura da saida: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508760"/>
            <a:ext cx="3246120" cy="822960"/>
          </a:xfrm>
          <a:prstGeom prst="rect">
            <a:avLst/>
          </a:prstGeom>
          <a:solidFill>
            <a:srgbClr val="D6E8F8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508760"/>
            <a:ext cx="73152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aula_1 a aula_8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15000" y="1856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Calculos organizados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por modulo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2468880"/>
            <a:ext cx="3246120" cy="822960"/>
          </a:xfrm>
          <a:prstGeom prst="rect">
            <a:avLst/>
          </a:prstGeom>
          <a:solidFill>
            <a:srgbClr val="D5F0E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468880"/>
            <a:ext cx="73152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resumo_processamento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15000" y="2816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Total de transacoes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campos processados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3429000"/>
            <a:ext cx="3246120" cy="822960"/>
          </a:xfrm>
          <a:prstGeom prst="rect">
            <a:avLst/>
          </a:prstGeom>
          <a:solidFill>
            <a:srgbClr val="FDE8C8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3429000"/>
            <a:ext cx="73152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modulo_final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3776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KPIs prontos para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relatório e visualizacao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3657600"/>
            <a:ext cx="324612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3730752"/>
            <a:ext cx="3063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Este JSON esta pronto para alimentar dashboards, relatorios Excel, PDFs e sistemas de visualizacao — Fase 2 do projeto.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Transformando Calculos em Relatorios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 JSON ao relatorio executivo — 3 formatos de saida, 3 versoes de script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2880360"/>
          </a:xfrm>
          <a:prstGeom prst="rect">
            <a:avLst/>
          </a:prstGeom>
          <a:solidFill>
            <a:srgbClr val="D5F0E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EXCEL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Excel (.xlsx)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Planilha com multiplas abas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Uma aba por aula, dados organizados em tabelas, formulas prontas para analise — facil de usar no dia a dia.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2880360"/>
          </a:xfrm>
          <a:prstGeom prst="rect">
            <a:avLst/>
          </a:prstGeom>
          <a:solidFill>
            <a:srgbClr val="D6E8F8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CSV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</a:rPr>
              <a:t>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Arquivo tabular simples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Compativel com qualquer sistema. Ideal para integracao com outros softwares, bancos de dados e dashboards.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743200" cy="2880360"/>
          </a:xfrm>
          <a:prstGeom prst="rect">
            <a:avLst/>
          </a:prstGeom>
          <a:solidFill>
            <a:srgbClr val="FDE8C8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188720"/>
            <a:ext cx="274320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PDF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PDF Executivo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Relatorio corporativo completo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542032"/>
            <a:ext cx="246888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KPIs, graficos, resumo executivo e insights — pronto para entrega ao empreendedor e apresentacao academica.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 versoes do gerador:  </a:t>
            </a:r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Linha de Comando</a:t>
            </a:r>
            <a:pPr algn="ctr" indent="0" marL="0">
              <a:buNone/>
            </a:pPr>
            <a:r>
              <a:rPr lang="en-US" sz="1050" dirty="0">
                <a:solidFill>
                  <a:srgbClr val="7BAAC8"/>
                </a:solidFill>
              </a:rPr>
              <a:t>  |  </a:t>
            </a:r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Terminal Interativo</a:t>
            </a:r>
            <a:pPr algn="ctr" indent="0" marL="0">
              <a:buNone/>
            </a:pPr>
            <a:r>
              <a:rPr lang="en-US" sz="1050" dirty="0">
                <a:solidFill>
                  <a:srgbClr val="7BAAC8"/>
                </a:solidFill>
              </a:rPr>
              <a:t>  |  </a:t>
            </a:r>
            <a:pPr algn="ctr" indent="0" marL="0">
              <a:buNone/>
            </a:pPr>
            <a:r>
              <a:rPr lang="en-US" sz="1050" dirty="0">
                <a:solidFill>
                  <a:srgbClr val="A8D8EA"/>
                </a:solidFill>
              </a:rPr>
              <a:t>Explorador Windows (para usuarios finais)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Resumo: Do Dado ao Insight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2286000"/>
          </a:xfrm>
          <a:prstGeom prst="rect">
            <a:avLst/>
          </a:prstGeom>
          <a:solidFill>
            <a:srgbClr val="152535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4300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COLETA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1700784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O empreendedor preenche seus dados em formulario ou JSON — transacoes, valores, categorias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04288" y="2148840"/>
            <a:ext cx="21031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203911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920240" cy="2286000"/>
          </a:xfrm>
          <a:prstGeom prst="rect">
            <a:avLst/>
          </a:prstGeom>
          <a:solidFill>
            <a:srgbClr val="152535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43000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PROCESSAMENTO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2267712"/>
            <a:ext cx="1700784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Insight Calculado executa 8 modulos: estatistica, correlacao, probabilidade e limpeza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53128" y="2148840"/>
            <a:ext cx="21031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203911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920240" cy="2286000"/>
          </a:xfrm>
          <a:prstGeom prst="rect">
            <a:avLst/>
          </a:prstGeom>
          <a:solidFill>
            <a:srgbClr val="152535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143000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RESULTADO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267712"/>
            <a:ext cx="1700784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JSON com 8 aulas de analise + KPIs finais: receita, lucro, margem, ticket e modelos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1968" y="2148840"/>
            <a:ext cx="210312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03911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1920240" cy="2286000"/>
          </a:xfrm>
          <a:prstGeom prst="rect">
            <a:avLst/>
          </a:prstGeom>
          <a:solidFill>
            <a:srgbClr val="152535"/>
          </a:solidFill>
          <a:ln w="25400">
            <a:solidFill>
              <a:srgbClr val="7D3C9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143000"/>
            <a:ext cx="548640" cy="54864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18105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D3C98"/>
                </a:solidFill>
              </a:rPr>
              <a:t>RELATORIO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22008" y="2267712"/>
            <a:ext cx="1700784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</a:rPr>
              <a:t>Excel, CSV e PDF prontos para decisao gerencial e entrega ao empreendedor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56432"/>
            <a:ext cx="8412480" cy="548640"/>
          </a:xfrm>
          <a:prstGeom prst="rect">
            <a:avLst/>
          </a:prstGeom>
          <a:solidFill>
            <a:srgbClr val="15253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564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Resultado: Receita R$ 7.340  |  Lucro R$ 4.230  |  Margem 57,6%  |  Ticket R$ 458,75  |  8 modulos executados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0A15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A8C8E8"/>
                </a:solidFill>
              </a:rPr>
              <a:t>O sistema transforma planilhas manuais em inteligencia financeira automatizada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Conclusao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86968"/>
            <a:ext cx="292608" cy="2926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412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Desenvolvemos um motor Python capaz de analisar dados financeiros reais de microempresas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36776"/>
            <a:ext cx="292608" cy="292608"/>
          </a:xfrm>
          <a:prstGeom prst="ellipse">
            <a:avLst/>
          </a:prstGeom>
          <a:solidFill>
            <a:srgbClr val="5DAD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9105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 modulos de calculo cobrem estatistica, probabilidade, correlacao e preparacao de dados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86584"/>
            <a:ext cx="292608" cy="2926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408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Os resultados sao exportados automaticamente em JSON, CSV, Excel e PDF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36392"/>
            <a:ext cx="292608" cy="292608"/>
          </a:xfrm>
          <a:prstGeom prst="ellipse">
            <a:avLst/>
          </a:prstGeom>
          <a:solidFill>
            <a:srgbClr val="CF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906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empreendedora passa de planilhas manuais para insights financeiros automatizados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813048"/>
            <a:ext cx="8503920" cy="658368"/>
          </a:xfrm>
          <a:prstGeom prst="rect">
            <a:avLst/>
          </a:prstGeom>
          <a:solidFill>
            <a:srgbClr val="152535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130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R$ 7.340 </a:t>
            </a:r>
            <a:pPr algn="ctr" indent="0" marL="0">
              <a:buNone/>
            </a:pPr>
            <a:r>
              <a:rPr lang="en-US" sz="1200" dirty="0">
                <a:solidFill>
                  <a:srgbClr val="7BAAC8"/>
                </a:solidFill>
              </a:rPr>
              <a:t>receita   |   </a:t>
            </a:r>
            <a:pPr algn="ctr" indent="0" marL="0">
              <a:buNone/>
            </a:pPr>
            <a:r>
              <a:rPr lang="en-US" sz="1500" b="1" dirty="0">
                <a:solidFill>
                  <a:srgbClr val="5DADE2"/>
                </a:solidFill>
              </a:rPr>
              <a:t>R$ 4.230 </a:t>
            </a:r>
            <a:pPr algn="ctr" indent="0" marL="0">
              <a:buNone/>
            </a:pPr>
            <a:r>
              <a:rPr lang="en-US" sz="1200" dirty="0">
                <a:solidFill>
                  <a:srgbClr val="7BAAC8"/>
                </a:solidFill>
              </a:rPr>
              <a:t>lucro   |   </a:t>
            </a:r>
            <a:pPr algn="ctr" indent="0" marL="0">
              <a:buNone/>
            </a:pPr>
            <a:r>
              <a:rPr lang="en-US" sz="1500" b="1" dirty="0">
                <a:solidFill>
                  <a:srgbClr val="FAD02E"/>
                </a:solidFill>
              </a:rPr>
              <a:t>57,6% </a:t>
            </a:r>
            <a:pPr algn="ctr" indent="0" marL="0">
              <a:buNone/>
            </a:pPr>
            <a:r>
              <a:rPr lang="en-US" sz="1200" dirty="0">
                <a:solidFill>
                  <a:srgbClr val="7BAAC8"/>
                </a:solidFill>
              </a:rPr>
              <a:t>margem   |   </a:t>
            </a:r>
            <a:pPr algn="ctr" indent="0" marL="0">
              <a:buNone/>
            </a:pPr>
            <a:r>
              <a:rPr lang="en-US" sz="1500" b="1" dirty="0">
                <a:solidFill>
                  <a:srgbClr val="CF9FFF"/>
                </a:solidFill>
              </a:rPr>
              <a:t>R$ 458,75 </a:t>
            </a:r>
            <a:pPr algn="ctr" indent="0" marL="0">
              <a:buNone/>
            </a:pPr>
            <a:r>
              <a:rPr lang="en-US" sz="1200" dirty="0">
                <a:solidFill>
                  <a:srgbClr val="7BAAC8"/>
                </a:solidFill>
              </a:rPr>
              <a:t>ticket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AAC8"/>
                </a:solidFill>
              </a:rPr>
              <a:t>Insight Calculado — Da analise ao conhecimento, do conhecimento a decisao.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Calculado — Projeto Integrador</dc:title>
  <dc:subject>PptxGenJS Presentation</dc:subject>
  <dc:creator>Extensão Universitária 2026</dc:creator>
  <cp:lastModifiedBy>Extensão Universitária 2026</cp:lastModifiedBy>
  <cp:revision>1</cp:revision>
  <dcterms:created xsi:type="dcterms:W3CDTF">2026-05-27T01:08:48Z</dcterms:created>
  <dcterms:modified xsi:type="dcterms:W3CDTF">2026-05-27T01:08:48Z</dcterms:modified>
</cp:coreProperties>
</file>